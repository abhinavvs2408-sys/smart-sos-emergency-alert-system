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Tinos Bold"/>
      <p:regular r:id="rId201316"/>
    </p:embeddedFont>
    <p:embeddedFont>
      <p:font typeface="Unbounded Bold"/>
      <p:regular r:id="rId201317"/>
    </p:embeddedFont>
    <p:embeddedFont>
      <p:font typeface="Unbounded"/>
      <p:regular r:id="rId201318"/>
    </p:embeddedFont>
    <p:embeddedFont>
      <p:font typeface="Open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968" y="1727835"/>
            <a:ext cx="9651759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20101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MedGuard — Smart Safety Layer for Connected Medical Devices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137813" y="343789"/>
            <a:ext cx="7529721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spc="200" kern="100" dirty="0">
                <a:solidFill>
                  <a:srgbClr val="1F497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GAME-A-THON’26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269968" y="3253274"/>
            <a:ext cx="1017879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B728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Detect. Explain. Protect.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9968" y="3634680"/>
            <a:ext cx="9569211" cy="19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68884" indent="-468884">
              <a:lnSpc>
                <a:spcPct val="100000"/>
              </a:lnSpc>
              <a:buSzPct val="100000"/>
              <a:buChar char="•"/>
            </a:pPr>
            <a:r>
              <a:rPr lang="en-US" sz="2600" b="1" dirty="0">
                <a:solidFill>
                  <a:srgbClr val="02010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Problem Statement ID – PS 1.2</a:t>
            </a:r>
            <a:endParaRPr lang="en-US" sz="2600" dirty="0"/>
          </a:p>
          <a:p>
            <a:pPr algn="l" marL="468884" indent="-468884">
              <a:lnSpc>
                <a:spcPct val="100000"/>
              </a:lnSpc>
              <a:buSzPct val="100000"/>
              <a:buChar char="•"/>
            </a:pPr>
            <a:r>
              <a:rPr lang="en-US" sz="2600" b="1" dirty="0">
                <a:solidFill>
                  <a:srgbClr val="02010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Problem Statement Title – White Coat, Black Hat</a:t>
            </a:r>
            <a:endParaRPr lang="en-US" sz="2600" dirty="0"/>
          </a:p>
          <a:p>
            <a:pPr algn="l" marL="468884" indent="-468884">
              <a:lnSpc>
                <a:spcPct val="100000"/>
              </a:lnSpc>
              <a:buSzPct val="100000"/>
              <a:buChar char="•"/>
            </a:pPr>
            <a:r>
              <a:rPr lang="en-US" sz="2600" b="1" dirty="0">
                <a:solidFill>
                  <a:srgbClr val="02010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Track – Med-Tech</a:t>
            </a:r>
            <a:endParaRPr lang="en-US" sz="2600" dirty="0"/>
          </a:p>
          <a:p>
            <a:pPr algn="l" marL="468884" indent="-468884">
              <a:lnSpc>
                <a:spcPct val="100000"/>
              </a:lnSpc>
              <a:buSzPct val="100000"/>
              <a:buChar char="•"/>
            </a:pPr>
            <a:r>
              <a:rPr lang="en-US" sz="2600" b="1" dirty="0">
                <a:solidFill>
                  <a:srgbClr val="02010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Team ID – ARD-CYB-MT</a:t>
            </a:r>
            <a:endParaRPr lang="en-US" sz="2600" dirty="0"/>
          </a:p>
          <a:p>
            <a:pPr algn="l" marL="468884" indent="-468884">
              <a:lnSpc>
                <a:spcPct val="100000"/>
              </a:lnSpc>
              <a:buSzPct val="100000"/>
              <a:buChar char="•"/>
            </a:pPr>
            <a:r>
              <a:rPr lang="en-US" sz="2600" b="1" dirty="0">
                <a:solidFill>
                  <a:srgbClr val="02010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Team Name – Cyber Nova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093" y="71735"/>
            <a:ext cx="2554224" cy="106233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93" y="301823"/>
            <a:ext cx="587856" cy="5403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-480604" y="1007209"/>
            <a:ext cx="272428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50" spc="72" kern="100" dirty="0">
                <a:solidFill>
                  <a:srgbClr val="4E3D0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ARROWDEV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9480" y="67925"/>
            <a:ext cx="8667236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20101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0990" y="1333500"/>
            <a:ext cx="5714857" cy="2108200"/>
          </a:xfrm>
          <a:prstGeom prst="roundRect">
            <a:avLst>
              <a:gd name="adj" fmla="val 5783"/>
            </a:avLst>
          </a:prstGeom>
          <a:solidFill>
            <a:srgbClr val="EAF6F9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1409700"/>
            <a:ext cx="55624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2035175"/>
            <a:ext cx="5562461" cy="13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Hospitals rely on connected devices: infusion pumps, monitors, ventilators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Exposed to cyberattacks, unauthorized access, unsafe config changes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22844" y="1333500"/>
            <a:ext cx="5714857" cy="2330450"/>
          </a:xfrm>
          <a:prstGeom prst="roundRect">
            <a:avLst>
              <a:gd name="adj" fmla="val 5231"/>
            </a:avLst>
          </a:prstGeom>
          <a:solidFill>
            <a:srgbClr val="EAF6F9"/>
          </a:solidFill>
          <a:ln/>
        </p:spPr>
      </p:sp>
      <p:sp>
        <p:nvSpPr>
          <p:cNvPr id="7" name="Text 5"/>
          <p:cNvSpPr/>
          <p:nvPr/>
        </p:nvSpPr>
        <p:spPr>
          <a:xfrm>
            <a:off x="6299042" y="1409700"/>
            <a:ext cx="55624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Target users / stakeholders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99042" y="2035175"/>
            <a:ext cx="5562461" cy="155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Nurses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Biomedical engineers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Hospital IT &amp; cybersecurity teams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Patients and administrators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990" y="3873500"/>
            <a:ext cx="5714857" cy="2219325"/>
          </a:xfrm>
          <a:prstGeom prst="roundRect">
            <a:avLst>
              <a:gd name="adj" fmla="val 5493"/>
            </a:avLst>
          </a:prstGeom>
          <a:solidFill>
            <a:srgbClr val="EAF6F9"/>
          </a:solidFill>
          <a:ln/>
        </p:spPr>
      </p:sp>
      <p:sp>
        <p:nvSpPr>
          <p:cNvPr id="10" name="Text 8"/>
          <p:cNvSpPr/>
          <p:nvPr/>
        </p:nvSpPr>
        <p:spPr>
          <a:xfrm>
            <a:off x="457189" y="3949700"/>
            <a:ext cx="55624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Existing gap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189" y="4575175"/>
            <a:ext cx="5562461" cy="14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Tools focus on IT networks, not bedside device behavior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No immediate physical alerts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Often expensive and hard to deploy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2844" y="3873500"/>
            <a:ext cx="5714857" cy="2219325"/>
          </a:xfrm>
          <a:prstGeom prst="roundRect">
            <a:avLst>
              <a:gd name="adj" fmla="val 5493"/>
            </a:avLst>
          </a:prstGeom>
          <a:solidFill>
            <a:srgbClr val="F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6299042" y="3949700"/>
            <a:ext cx="55624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6282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solve 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99042" y="4575175"/>
            <a:ext cx="5562461" cy="14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 malfunction or attack can become a 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patient safety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incident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Staff need fast, 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explainable alerts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Actionable next steps, not raw logs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7797" y="6442670"/>
            <a:ext cx="34543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63" y="121642"/>
            <a:ext cx="587856" cy="54034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-350035" y="826829"/>
            <a:ext cx="272428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50" spc="72" kern="100" dirty="0">
                <a:solidFill>
                  <a:srgbClr val="4E3D0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ARROWDEV</a:t>
            </a:r>
            <a:endParaRPr lang="en-US" sz="14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266" y="59432"/>
            <a:ext cx="2554224" cy="1062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28660"/>
            <a:ext cx="10972526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20101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PROPOSED SOLUTION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63" y="121642"/>
            <a:ext cx="587856" cy="540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350035" y="826829"/>
            <a:ext cx="272428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50" spc="72" kern="100" dirty="0">
                <a:solidFill>
                  <a:srgbClr val="4E3D0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ARROWDEV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380990" y="1422400"/>
            <a:ext cx="3682908" cy="2303066"/>
          </a:xfrm>
          <a:prstGeom prst="roundRect">
            <a:avLst>
              <a:gd name="adj" fmla="val 5294"/>
            </a:avLst>
          </a:prstGeom>
          <a:solidFill>
            <a:srgbClr val="EAF6F9"/>
          </a:solidFill>
          <a:ln/>
        </p:spPr>
      </p:sp>
      <p:sp>
        <p:nvSpPr>
          <p:cNvPr id="6" name="Text 3"/>
          <p:cNvSpPr/>
          <p:nvPr/>
        </p:nvSpPr>
        <p:spPr>
          <a:xfrm>
            <a:off x="457189" y="1506220"/>
            <a:ext cx="353051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Solution overview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189" y="2093516"/>
            <a:ext cx="3530512" cy="155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low-cost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hardware–software safety layer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ESP32 node monitors a simulated medical device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Local alerts + web dashboard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4394" y="1422400"/>
            <a:ext cx="3682908" cy="3169841"/>
          </a:xfrm>
          <a:prstGeom prst="roundRect">
            <a:avLst>
              <a:gd name="adj" fmla="val 3846"/>
            </a:avLst>
          </a:prstGeom>
          <a:solidFill>
            <a:srgbClr val="EAF6F9"/>
          </a:solidFill>
          <a:ln/>
        </p:spPr>
      </p:sp>
      <p:sp>
        <p:nvSpPr>
          <p:cNvPr id="9" name="Text 6"/>
          <p:cNvSpPr/>
          <p:nvPr/>
        </p:nvSpPr>
        <p:spPr>
          <a:xfrm>
            <a:off x="4330592" y="1506220"/>
            <a:ext cx="353051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30592" y="2093516"/>
            <a:ext cx="3530512" cy="242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Detects sudden dosage/config changes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Unknown access, odd connections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Repeated failed access attempts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Buzzer + LED local alerts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Relay/servo simulates isolation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Dashboard reason + action log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27797" y="1422400"/>
            <a:ext cx="3682908" cy="1769666"/>
          </a:xfrm>
          <a:prstGeom prst="roundRect">
            <a:avLst>
              <a:gd name="adj" fmla="val 6889"/>
            </a:avLst>
          </a:prstGeom>
          <a:solidFill>
            <a:srgbClr val="EAF6F9"/>
          </a:solidFill>
          <a:ln/>
        </p:spPr>
      </p:sp>
      <p:sp>
        <p:nvSpPr>
          <p:cNvPr id="12" name="Text 9"/>
          <p:cNvSpPr/>
          <p:nvPr/>
        </p:nvSpPr>
        <p:spPr>
          <a:xfrm>
            <a:off x="8203995" y="1506220"/>
            <a:ext cx="353051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How it addresses the problem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03995" y="2093516"/>
            <a:ext cx="3530512" cy="1022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Bedside monitoring + cyber alerts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Works locally without internet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Clear what happened and what to do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0990" y="5016500"/>
            <a:ext cx="11429714" cy="426641"/>
          </a:xfrm>
          <a:prstGeom prst="roundRect">
            <a:avLst>
              <a:gd name="adj" fmla="val 28576"/>
            </a:avLst>
          </a:prstGeom>
          <a:solidFill>
            <a:srgbClr val="EAF6F9"/>
          </a:solidFill>
          <a:ln/>
        </p:spPr>
      </p:sp>
      <p:sp>
        <p:nvSpPr>
          <p:cNvPr id="15" name="Text 12"/>
          <p:cNvSpPr/>
          <p:nvPr/>
        </p:nvSpPr>
        <p:spPr>
          <a:xfrm>
            <a:off x="457189" y="5100320"/>
            <a:ext cx="112773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Simple solution workflow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80990" y="5537200"/>
            <a:ext cx="1777956" cy="596900"/>
          </a:xfrm>
          <a:prstGeom prst="roundRect">
            <a:avLst>
              <a:gd name="adj" fmla="val 20425"/>
            </a:avLst>
          </a:prstGeom>
          <a:solidFill>
            <a:srgbClr val="0B7285"/>
          </a:solidFill>
          <a:ln/>
        </p:spPr>
      </p:sp>
      <p:sp>
        <p:nvSpPr>
          <p:cNvPr id="17" name="Text 14"/>
          <p:cNvSpPr/>
          <p:nvPr/>
        </p:nvSpPr>
        <p:spPr>
          <a:xfrm>
            <a:off x="431789" y="5588000"/>
            <a:ext cx="16763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Simulated Medical Device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311342" y="5537200"/>
            <a:ext cx="1777956" cy="596900"/>
          </a:xfrm>
          <a:prstGeom prst="roundRect">
            <a:avLst>
              <a:gd name="adj" fmla="val 20425"/>
            </a:avLst>
          </a:prstGeom>
          <a:solidFill>
            <a:srgbClr val="0B7285"/>
          </a:solidFill>
          <a:ln/>
        </p:spPr>
      </p:sp>
      <p:sp>
        <p:nvSpPr>
          <p:cNvPr id="19" name="Text 16"/>
          <p:cNvSpPr/>
          <p:nvPr/>
        </p:nvSpPr>
        <p:spPr>
          <a:xfrm>
            <a:off x="2362141" y="5588000"/>
            <a:ext cx="16763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ESP32 Monitoring Node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41694" y="5537200"/>
            <a:ext cx="1777956" cy="596900"/>
          </a:xfrm>
          <a:prstGeom prst="roundRect">
            <a:avLst>
              <a:gd name="adj" fmla="val 20425"/>
            </a:avLst>
          </a:prstGeom>
          <a:solidFill>
            <a:srgbClr val="0B7285"/>
          </a:solidFill>
          <a:ln/>
        </p:spPr>
      </p:sp>
      <p:sp>
        <p:nvSpPr>
          <p:cNvPr id="21" name="Text 18"/>
          <p:cNvSpPr/>
          <p:nvPr/>
        </p:nvSpPr>
        <p:spPr>
          <a:xfrm>
            <a:off x="4292493" y="5588000"/>
            <a:ext cx="16763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Rule-Based Detection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72046" y="5537200"/>
            <a:ext cx="1777956" cy="596900"/>
          </a:xfrm>
          <a:prstGeom prst="roundRect">
            <a:avLst>
              <a:gd name="adj" fmla="val 20425"/>
            </a:avLst>
          </a:prstGeom>
          <a:solidFill>
            <a:srgbClr val="0B7285"/>
          </a:solidFill>
          <a:ln/>
        </p:spPr>
      </p:sp>
      <p:sp>
        <p:nvSpPr>
          <p:cNvPr id="23" name="Text 20"/>
          <p:cNvSpPr/>
          <p:nvPr/>
        </p:nvSpPr>
        <p:spPr>
          <a:xfrm>
            <a:off x="6222844" y="5588000"/>
            <a:ext cx="16763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Local Buzzer / LED / Relay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102397" y="5537200"/>
            <a:ext cx="1777956" cy="349250"/>
          </a:xfrm>
          <a:prstGeom prst="roundRect">
            <a:avLst>
              <a:gd name="adj" fmla="val 34908"/>
            </a:avLst>
          </a:prstGeom>
          <a:solidFill>
            <a:srgbClr val="0B7285"/>
          </a:solidFill>
          <a:ln/>
        </p:spPr>
      </p:sp>
      <p:sp>
        <p:nvSpPr>
          <p:cNvPr id="25" name="Text 22"/>
          <p:cNvSpPr/>
          <p:nvPr/>
        </p:nvSpPr>
        <p:spPr>
          <a:xfrm>
            <a:off x="7848404" y="5588000"/>
            <a:ext cx="228594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Wi-Fi Backend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032749" y="5537200"/>
            <a:ext cx="1777956" cy="596900"/>
          </a:xfrm>
          <a:prstGeom prst="roundRect">
            <a:avLst>
              <a:gd name="adj" fmla="val 20425"/>
            </a:avLst>
          </a:prstGeom>
          <a:solidFill>
            <a:srgbClr val="0B7285"/>
          </a:solidFill>
          <a:ln/>
        </p:spPr>
      </p:sp>
      <p:sp>
        <p:nvSpPr>
          <p:cNvPr id="27" name="Text 24"/>
          <p:cNvSpPr/>
          <p:nvPr/>
        </p:nvSpPr>
        <p:spPr>
          <a:xfrm>
            <a:off x="10083548" y="5588000"/>
            <a:ext cx="16763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Dashboard &amp; Incident Log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27797" y="6442670"/>
            <a:ext cx="34543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905" y="59432"/>
            <a:ext cx="2554224" cy="1062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7835" y="230545"/>
            <a:ext cx="786675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20101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INNOVATION AND GAMIFICATION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0990" y="1168400"/>
            <a:ext cx="5714857" cy="3032720"/>
          </a:xfrm>
          <a:prstGeom prst="roundRect">
            <a:avLst>
              <a:gd name="adj" fmla="val 4020"/>
            </a:avLst>
          </a:prstGeom>
          <a:solidFill>
            <a:srgbClr val="EAF6F9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1257935"/>
            <a:ext cx="5562461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What is unique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189" y="1854795"/>
            <a:ext cx="5562461" cy="227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Focus on </a:t>
            </a:r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patient safety</a:t>
            </a:r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, not only IT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Affordable common hardware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explainable alerts</a:t>
            </a:r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, not black-box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Physical response + dashboard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Local alerts during network failure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Simulated attacks for safe training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22844" y="1168400"/>
            <a:ext cx="5714857" cy="2635845"/>
          </a:xfrm>
          <a:prstGeom prst="roundRect">
            <a:avLst>
              <a:gd name="adj" fmla="val 4625"/>
            </a:avLst>
          </a:prstGeom>
          <a:solidFill>
            <a:srgbClr val="EAF6F9"/>
          </a:solidFill>
          <a:ln/>
        </p:spPr>
      </p:sp>
      <p:sp>
        <p:nvSpPr>
          <p:cNvPr id="7" name="Text 5"/>
          <p:cNvSpPr/>
          <p:nvPr/>
        </p:nvSpPr>
        <p:spPr>
          <a:xfrm>
            <a:off x="6299042" y="1257935"/>
            <a:ext cx="5562461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Gamification elements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99042" y="1854795"/>
            <a:ext cx="5562461" cy="187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Roles: Nurse, Biomed Engineer, Security Officer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Training Mode: random attacks, timed challenges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Score for speed/accuracy; penalties for delay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Badges: First Save, Steady Hand, Night Shift Hero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Bronze / Silver / Gold levels; leaderboard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0990" y="4165600"/>
            <a:ext cx="5714857" cy="2238970"/>
          </a:xfrm>
          <a:prstGeom prst="roundRect">
            <a:avLst>
              <a:gd name="adj" fmla="val 5445"/>
            </a:avLst>
          </a:prstGeom>
          <a:solidFill>
            <a:srgbClr val="EAF6F9"/>
          </a:solidFill>
          <a:ln/>
        </p:spPr>
      </p:sp>
      <p:sp>
        <p:nvSpPr>
          <p:cNvPr id="10" name="Text 8"/>
          <p:cNvSpPr/>
          <p:nvPr/>
        </p:nvSpPr>
        <p:spPr>
          <a:xfrm>
            <a:off x="457189" y="4255135"/>
            <a:ext cx="5562461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effective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189" y="4851995"/>
            <a:ext cx="5562461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Interactive simulation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Faster, more accurate response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Measurable performance data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Repeat practice without risking patients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22844" y="4165600"/>
            <a:ext cx="5714857" cy="2238970"/>
          </a:xfrm>
          <a:prstGeom prst="roundRect">
            <a:avLst>
              <a:gd name="adj" fmla="val 5445"/>
            </a:avLst>
          </a:prstGeom>
          <a:solidFill>
            <a:srgbClr val="EA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299042" y="4255135"/>
            <a:ext cx="5562461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Differentiation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99042" y="4851995"/>
            <a:ext cx="5562461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low-cost</a:t>
            </a:r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prototype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Bedside-device behavior monitoring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explainable alerts</a:t>
            </a:r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tied to </a:t>
            </a:r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patient safety</a:t>
            </a:r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actions</a:t>
            </a:r>
            <a:endParaRPr lang="en-US" sz="1500" dirty="0"/>
          </a:p>
          <a:p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gamified training</a:t>
            </a:r>
            <a:pPr algn="l" marL="304800" indent="-3048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in same dashboard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7797" y="6442670"/>
            <a:ext cx="34543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63" y="121642"/>
            <a:ext cx="587856" cy="54034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-350035" y="826829"/>
            <a:ext cx="272428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50" spc="72" kern="100" dirty="0">
                <a:solidFill>
                  <a:srgbClr val="4E3D0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ARROWDEV</a:t>
            </a:r>
            <a:endParaRPr lang="en-US" sz="14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692" y="120055"/>
            <a:ext cx="2262230" cy="940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4746" y="161687"/>
            <a:ext cx="906677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20101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TECHNOLOGY AND IMPLEMENTATION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0990" y="1168400"/>
            <a:ext cx="5714857" cy="2242741"/>
          </a:xfrm>
          <a:prstGeom prst="roundRect">
            <a:avLst>
              <a:gd name="adj" fmla="val 5436"/>
            </a:avLst>
          </a:prstGeom>
          <a:solidFill>
            <a:srgbClr val="EAF6F9"/>
          </a:solidFill>
          <a:ln/>
        </p:spPr>
      </p:sp>
      <p:sp>
        <p:nvSpPr>
          <p:cNvPr id="4" name="Text 2"/>
          <p:cNvSpPr/>
          <p:nvPr/>
        </p:nvSpPr>
        <p:spPr>
          <a:xfrm>
            <a:off x="482588" y="1277620"/>
            <a:ext cx="55116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2588" y="1864916"/>
            <a:ext cx="5511662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Hardware: ESP32, breadboard, potentiometer, servo/DC motor, buzzer, LEDs, relay; optional RFID/OLED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Software: Arduino IDE/PlatformIO, C++, HTTP/MQTT, Flask/FastAPI/Node.js, SQLite/Firebase, Streamlit/React/HTML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22844" y="1168400"/>
            <a:ext cx="5714857" cy="2087166"/>
          </a:xfrm>
          <a:prstGeom prst="roundRect">
            <a:avLst>
              <a:gd name="adj" fmla="val 5841"/>
            </a:avLst>
          </a:prstGeom>
          <a:solidFill>
            <a:srgbClr val="EAF6F9"/>
          </a:solidFill>
          <a:ln/>
        </p:spPr>
      </p:sp>
      <p:sp>
        <p:nvSpPr>
          <p:cNvPr id="7" name="Text 5"/>
          <p:cNvSpPr/>
          <p:nvPr/>
        </p:nvSpPr>
        <p:spPr>
          <a:xfrm>
            <a:off x="6324442" y="1277620"/>
            <a:ext cx="55116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4442" y="1864916"/>
            <a:ext cx="5511662" cy="1289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Simulated sensors → ESP32 rule-based detection → buzzer / LED / relay / servo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Wi-Fi telemetry → backend stores incidents → dashboard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Dashboard: status, alert reason, action, timeline, gamification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0990" y="3429000"/>
            <a:ext cx="5714857" cy="2842816"/>
          </a:xfrm>
          <a:prstGeom prst="roundRect">
            <a:avLst>
              <a:gd name="adj" fmla="val 4289"/>
            </a:avLst>
          </a:prstGeom>
          <a:solidFill>
            <a:srgbClr val="EAF6F9"/>
          </a:solidFill>
          <a:ln/>
        </p:spPr>
      </p:sp>
      <p:sp>
        <p:nvSpPr>
          <p:cNvPr id="10" name="Text 8"/>
          <p:cNvSpPr/>
          <p:nvPr/>
        </p:nvSpPr>
        <p:spPr>
          <a:xfrm>
            <a:off x="482588" y="3538220"/>
            <a:ext cx="55116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Implementation methodology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2588" y="4125516"/>
            <a:ext cx="5511662" cy="2044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MVP first; safe simulated data only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Test normal and attack scenarios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Measure detection time, response time, false alerts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Human approval before simulated isolation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24h: H1–8 build · H9–13 dashboard · H14–17 attacks + 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explainable alerts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· H18–24 polish, 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2844" y="3429000"/>
            <a:ext cx="5714857" cy="2842816"/>
          </a:xfrm>
          <a:prstGeom prst="roundRect">
            <a:avLst>
              <a:gd name="adj" fmla="val 4289"/>
            </a:avLst>
          </a:prstGeom>
          <a:solidFill>
            <a:srgbClr val="EA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442" y="3538220"/>
            <a:ext cx="55116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Prototype / working model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4442" y="4125516"/>
            <a:ext cx="5511662" cy="2044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Device bay: ESP32, potentiometer, servo, buzzer, LED, relay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Button = unauthorized access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Sudden potentiometer change = unsafe config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System detects, alerts locally, simulates isolation, updates dashboard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low-cost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educational prototype, not a certified medical device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291" y="6442670"/>
            <a:ext cx="381337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@SIH Idea submission- Template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601" y="183555"/>
            <a:ext cx="451632" cy="4152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0" y="727246"/>
            <a:ext cx="2702949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spc="55" kern="100" dirty="0">
                <a:solidFill>
                  <a:srgbClr val="4E3D0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ARROWDEV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142" y="119063"/>
            <a:ext cx="1686478" cy="701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37" y="161786"/>
            <a:ext cx="10972526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20101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IMPACTS AND FUTURE SCOPE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63" y="121642"/>
            <a:ext cx="587856" cy="540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350035" y="826829"/>
            <a:ext cx="272428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50" spc="72" kern="100" dirty="0">
                <a:solidFill>
                  <a:srgbClr val="4E3D0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ARROWDEV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343291" y="6442670"/>
            <a:ext cx="381337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3D0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@SIH Idea submission- Template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372" y="32941"/>
            <a:ext cx="2554224" cy="10623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80990" y="1193800"/>
            <a:ext cx="5651359" cy="2423716"/>
          </a:xfrm>
          <a:prstGeom prst="roundRect">
            <a:avLst>
              <a:gd name="adj" fmla="val 5030"/>
            </a:avLst>
          </a:prstGeom>
          <a:solidFill>
            <a:srgbClr val="EAF6F9"/>
          </a:solidFill>
          <a:ln/>
        </p:spPr>
      </p:sp>
      <p:sp>
        <p:nvSpPr>
          <p:cNvPr id="8" name="Text 4"/>
          <p:cNvSpPr/>
          <p:nvPr/>
        </p:nvSpPr>
        <p:spPr>
          <a:xfrm>
            <a:off x="406390" y="1226820"/>
            <a:ext cx="560056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Expected impact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06390" y="1814116"/>
            <a:ext cx="560056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Faster detection of abnormal behavior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Clearer explainable incident response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Better staff cybersecurity readiness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Low-cost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 student innovation, training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Less reliance on costly hardware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59346" y="1193800"/>
            <a:ext cx="5651359" cy="2423716"/>
          </a:xfrm>
          <a:prstGeom prst="roundRect">
            <a:avLst>
              <a:gd name="adj" fmla="val 5030"/>
            </a:avLst>
          </a:prstGeom>
          <a:solidFill>
            <a:srgbClr val="EAF6F9"/>
          </a:solidFill>
          <a:ln/>
        </p:spPr>
      </p:sp>
      <p:sp>
        <p:nvSpPr>
          <p:cNvPr id="11" name="Text 7"/>
          <p:cNvSpPr/>
          <p:nvPr/>
        </p:nvSpPr>
        <p:spPr>
          <a:xfrm>
            <a:off x="6184745" y="1226820"/>
            <a:ext cx="560056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Benefits to users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184745" y="1814116"/>
            <a:ext cx="560056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Nurses: actionable alerts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Biomed engineers: device incident info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Security teams: incident log, risk view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Hospitals: safe simulated training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Patients: device-safety awareness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80990" y="3594100"/>
            <a:ext cx="5651359" cy="2045891"/>
          </a:xfrm>
          <a:prstGeom prst="roundRect">
            <a:avLst>
              <a:gd name="adj" fmla="val 5959"/>
            </a:avLst>
          </a:prstGeom>
          <a:solidFill>
            <a:srgbClr val="EAF6F9"/>
          </a:solidFill>
          <a:ln/>
        </p:spPr>
      </p:sp>
      <p:sp>
        <p:nvSpPr>
          <p:cNvPr id="14" name="Text 10"/>
          <p:cNvSpPr/>
          <p:nvPr/>
        </p:nvSpPr>
        <p:spPr>
          <a:xfrm>
            <a:off x="406390" y="3627120"/>
            <a:ext cx="560056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Scalability / feasibility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06390" y="4214416"/>
            <a:ext cx="5600560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One ESP32 node per device; central dashboard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B7285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Low-cost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, widely available parts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Local alerts work during network failure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Hospital integration after validation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59346" y="3594100"/>
            <a:ext cx="5651359" cy="2423716"/>
          </a:xfrm>
          <a:prstGeom prst="roundRect">
            <a:avLst>
              <a:gd name="adj" fmla="val 5030"/>
            </a:avLst>
          </a:prstGeom>
          <a:solidFill>
            <a:srgbClr val="EAF6F9"/>
          </a:solidFill>
          <a:ln/>
        </p:spPr>
      </p:sp>
      <p:sp>
        <p:nvSpPr>
          <p:cNvPr id="17" name="Text 13"/>
          <p:cNvSpPr/>
          <p:nvPr/>
        </p:nvSpPr>
        <p:spPr>
          <a:xfrm>
            <a:off x="6184745" y="3627120"/>
            <a:ext cx="560056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5C8A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184745" y="4214416"/>
            <a:ext cx="560056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ML anomaly detection on validated data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Device identity, certificate authentication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SIEM integration; mobile notifications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ICU digital twin; multiplayer challenges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Controlled clinical and cyber validation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80990" y="6007100"/>
            <a:ext cx="11429714" cy="266700"/>
          </a:xfrm>
          <a:prstGeom prst="roundRect">
            <a:avLst>
              <a:gd name="adj" fmla="val 45713"/>
            </a:avLst>
          </a:prstGeom>
          <a:solidFill>
            <a:srgbClr val="0B5C8A"/>
          </a:solidFill>
          <a:ln/>
        </p:spPr>
      </p:sp>
      <p:sp>
        <p:nvSpPr>
          <p:cNvPr id="20" name="Text 16"/>
          <p:cNvSpPr/>
          <p:nvPr/>
        </p:nvSpPr>
        <p:spPr>
          <a:xfrm>
            <a:off x="133347" y="6007100"/>
            <a:ext cx="1192500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MedGuard connects cybersecurity with patient safety through affordable hardware, explainable alerts, and gamified training.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2026-10-08T09:14:25Z</dcterms:created>
  <dcterms:modified xsi:type="dcterms:W3CDTF">2026-10-08T09:14:25Z</dcterms:modified>
</cp:coreProperties>
</file>