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C"/>
          </a:solidFill>
          <a:ln>
            <a:solidFill>
              <a:srgbClr val="08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1D3D6"/>
          </a:solidFill>
          <a:ln>
            <a:solidFill>
              <a:srgbClr val="31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D3D6"/>
                </a:solidFill>
                <a:latin typeface="Aptos"/>
              </a:rPr>
              <a:t>GAME-A-THON’26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6400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4F8FC"/>
                </a:solidFill>
                <a:latin typeface="Aptos"/>
              </a:rPr>
              <a:t>MEDGUARD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74519"/>
            <a:ext cx="78638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Smart Safety Layer for</a:t>
            </a:r>
            <a:br/>
            <a:r>
              <a:rPr sz="2800" b="1">
                <a:solidFill>
                  <a:srgbClr val="F4F8FC"/>
                </a:solidFill>
                <a:latin typeface="Aptos"/>
              </a:rPr>
              <a:t>Connected Medical Devices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2461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E097"/>
                </a:solidFill>
                <a:latin typeface="Aptos"/>
              </a:rPr>
              <a:t>Detect. Explain. Protect.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1097280"/>
            <a:ext cx="2697480" cy="434340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87968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9BCCC"/>
                </a:solidFill>
                <a:latin typeface="Aptos"/>
              </a:rPr>
              <a:t>DEVICE SECURITY</a:t>
            </a:r>
          </a:p>
        </p:txBody>
      </p:sp>
      <p:sp>
        <p:nvSpPr>
          <p:cNvPr id="10" name="Oval 9"/>
          <p:cNvSpPr/>
          <p:nvPr/>
        </p:nvSpPr>
        <p:spPr>
          <a:xfrm>
            <a:off x="9189720" y="2011680"/>
            <a:ext cx="1417320" cy="640080"/>
          </a:xfrm>
          <a:prstGeom prst="ellipse">
            <a:avLst/>
          </a:prstGeom>
          <a:solidFill>
            <a:srgbClr val="31D3D6"/>
          </a:solidFill>
          <a:ln>
            <a:solidFill>
              <a:srgbClr val="31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218541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MONITOR</a:t>
            </a:r>
          </a:p>
        </p:txBody>
      </p:sp>
      <p:sp>
        <p:nvSpPr>
          <p:cNvPr id="12" name="Oval 11"/>
          <p:cNvSpPr/>
          <p:nvPr/>
        </p:nvSpPr>
        <p:spPr>
          <a:xfrm>
            <a:off x="9189720" y="2971800"/>
            <a:ext cx="1417320" cy="640080"/>
          </a:xfrm>
          <a:prstGeom prst="ellipse">
            <a:avLst/>
          </a:prstGeom>
          <a:solidFill>
            <a:srgbClr val="FFB05C"/>
          </a:solidFill>
          <a:ln>
            <a:solidFill>
              <a:srgbClr val="FF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9720" y="314553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RISK</a:t>
            </a:r>
          </a:p>
        </p:txBody>
      </p:sp>
      <p:sp>
        <p:nvSpPr>
          <p:cNvPr id="14" name="Oval 13"/>
          <p:cNvSpPr/>
          <p:nvPr/>
        </p:nvSpPr>
        <p:spPr>
          <a:xfrm>
            <a:off x="9189720" y="3931920"/>
            <a:ext cx="1417320" cy="640080"/>
          </a:xfrm>
          <a:prstGeom prst="ellipse">
            <a:avLst/>
          </a:prstGeom>
          <a:solidFill>
            <a:srgbClr val="FF6674"/>
          </a:solidFill>
          <a:ln>
            <a:solidFill>
              <a:srgbClr val="FF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20" y="4105656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ISOLATE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4800600"/>
            <a:ext cx="2148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Cybersecurity + patient safety</a:t>
            </a:r>
            <a:br/>
            <a:r>
              <a:rPr sz="1300" b="1">
                <a:solidFill>
                  <a:srgbClr val="F4F8FC"/>
                </a:solidFill>
                <a:latin typeface="Aptos"/>
              </a:rPr>
              <a:t>in one response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617720"/>
            <a:ext cx="7178040" cy="114300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892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D3D6"/>
                </a:solidFill>
                <a:latin typeface="Aptos"/>
              </a:rPr>
              <a:t>PS 1.2  |  WHITE COAT, BLACK 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285232"/>
            <a:ext cx="6217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4F8FC"/>
                </a:solidFill>
                <a:latin typeface="Aptos"/>
              </a:rPr>
              <a:t>Med-Tech  •  Team ARD-CYB-MT  •  Cyber Nova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BCCC"/>
                </a:solidFill>
                <a:latin typeface="Aptos"/>
              </a:rPr>
              <a:t>MEDGUARD  /  ARROWDEV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9BCCC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C"/>
          </a:solidFill>
          <a:ln>
            <a:solidFill>
              <a:srgbClr val="08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D3D6"/>
                </a:solidFill>
                <a:latin typeface="Aptos"/>
              </a:rPr>
              <a:t>01 /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The bedside is now part of the attack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CCC"/>
                </a:solidFill>
                <a:latin typeface="Aptos"/>
              </a:rPr>
              <a:t>Connected medical devices create a patient-safety problem when cyber risk becomes device behavior.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3429000" cy="315468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11680"/>
            <a:ext cx="3429000" cy="73152"/>
          </a:xfrm>
          <a:prstGeom prst="rect">
            <a:avLst/>
          </a:prstGeom>
          <a:solidFill>
            <a:srgbClr val="31D3D6"/>
          </a:solidFill>
          <a:ln>
            <a:solidFill>
              <a:srgbClr val="31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042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D3D6"/>
                </a:solidFill>
                <a:latin typeface="Aptos"/>
              </a:rPr>
              <a:t>CONNECTED DEVICES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816352"/>
            <a:ext cx="285292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Infusion pumps</a:t>
            </a:r>
          </a:p>
          <a:p>
            <a:pPr>
              <a:spcAft>
                <a:spcPts val="10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Patient monitors</a:t>
            </a:r>
          </a:p>
          <a:p>
            <a:pPr>
              <a:spcAft>
                <a:spcPts val="10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Ventilators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429000" cy="315468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011680"/>
            <a:ext cx="3429000" cy="73152"/>
          </a:xfrm>
          <a:prstGeom prst="rect">
            <a:avLst/>
          </a:prstGeom>
          <a:solidFill>
            <a:srgbClr val="FFB05C"/>
          </a:solidFill>
          <a:ln>
            <a:solidFill>
              <a:srgbClr val="FF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5152" y="23042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05C"/>
                </a:solidFill>
                <a:latin typeface="Aptos"/>
              </a:rPr>
              <a:t>WHAT CAN GO WRONG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816352"/>
            <a:ext cx="285292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Unauthorized access</a:t>
            </a:r>
          </a:p>
          <a:p>
            <a:pPr>
              <a:spcAft>
                <a:spcPts val="10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Unsafe configuration changes</a:t>
            </a:r>
          </a:p>
          <a:p>
            <a:pPr>
              <a:spcAft>
                <a:spcPts val="10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Odd / unknown connections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011680"/>
            <a:ext cx="3429000" cy="315468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2011680"/>
            <a:ext cx="3429000" cy="73152"/>
          </a:xfrm>
          <a:prstGeom prst="rect">
            <a:avLst/>
          </a:prstGeom>
          <a:solidFill>
            <a:srgbClr val="FF6674"/>
          </a:solidFill>
          <a:ln>
            <a:solidFill>
              <a:srgbClr val="FF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2" y="230428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6674"/>
                </a:solidFill>
                <a:latin typeface="Aptos"/>
              </a:rPr>
              <a:t>WHY IT MATTERS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2816352"/>
            <a:ext cx="285292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A cyber event can become a safety incident</a:t>
            </a:r>
          </a:p>
          <a:p>
            <a:pPr>
              <a:spcAft>
                <a:spcPts val="10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Staff need fast, explainable actions</a:t>
            </a:r>
          </a:p>
          <a:p>
            <a:pPr>
              <a:spcAft>
                <a:spcPts val="1000"/>
              </a:spcAft>
              <a:defRPr sz="1700">
                <a:solidFill>
                  <a:srgbClr val="F4F8FC"/>
                </a:solidFill>
                <a:latin typeface="Aptos"/>
              </a:defRPr>
            </a:pPr>
            <a:r>
              <a:t>Raw logs are not enough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5440680"/>
            <a:ext cx="11018520" cy="566928"/>
          </a:xfrm>
          <a:prstGeom prst="roundRect">
            <a:avLst>
              <a:gd name="adj" fmla="val 12000"/>
            </a:avLst>
          </a:prstGeom>
          <a:solidFill>
            <a:srgbClr val="142638"/>
          </a:solidFill>
          <a:ln>
            <a:solidFill>
              <a:srgbClr val="14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596128"/>
            <a:ext cx="10561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4F8FC"/>
                </a:solidFill>
                <a:latin typeface="Aptos"/>
              </a:rPr>
              <a:t>Target users  →  Nurses  •  Biomedical engineers  •  Hospital IT / cybersecurity teams  •  Patients &amp; administrators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BCCC"/>
                </a:solidFill>
                <a:latin typeface="Aptos"/>
              </a:rPr>
              <a:t>MEDGUARD  /  ARROWDEV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9BCCC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C"/>
          </a:solidFill>
          <a:ln>
            <a:solidFill>
              <a:srgbClr val="08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D3D6"/>
                </a:solidFill>
                <a:latin typeface="Aptos"/>
              </a:rPr>
              <a:t>02 /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A safety layer that detects, explains and responds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CCC"/>
                </a:solidFill>
                <a:latin typeface="Aptos"/>
              </a:rPr>
              <a:t>Low-cost hardware + a focused dashboard turns suspicious behavior into an actionable incident.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3749039" cy="416052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D3D6"/>
                </a:solidFill>
                <a:latin typeface="Aptos"/>
              </a:rPr>
              <a:t>CORE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33472"/>
            <a:ext cx="31546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Detect sudden dosage / configuration changes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Flag unknown access and unusual connections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Identify repeated failed access attempts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Local buzzer + LED alerts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Relay / servo simulates safe isolation</a:t>
            </a:r>
          </a:p>
          <a:p>
            <a:pPr>
              <a:spcAft>
                <a:spcPts val="800"/>
              </a:spcAft>
              <a:defRPr sz="1600">
                <a:solidFill>
                  <a:srgbClr val="F4F8FC"/>
                </a:solidFill>
                <a:latin typeface="Aptos"/>
              </a:defRPr>
            </a:pPr>
            <a:r>
              <a:t>Dashboard records reason + operator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0" y="1965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D3D6"/>
                </a:solidFill>
                <a:latin typeface="Aptos"/>
              </a:rPr>
              <a:t>RESPONSE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2514600"/>
            <a:ext cx="1993392" cy="1024128"/>
          </a:xfrm>
          <a:prstGeom prst="roundRect">
            <a:avLst>
              <a:gd name="adj" fmla="val 12000"/>
            </a:avLst>
          </a:prstGeom>
          <a:solidFill>
            <a:srgbClr val="142638"/>
          </a:solidFill>
          <a:ln>
            <a:solidFill>
              <a:srgbClr val="14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65192" y="2770632"/>
            <a:ext cx="438912" cy="438912"/>
          </a:xfrm>
          <a:prstGeom prst="ellipse">
            <a:avLst/>
          </a:prstGeom>
          <a:solidFill>
            <a:srgbClr val="31D3D6"/>
          </a:solidFill>
          <a:ln>
            <a:solidFill>
              <a:srgbClr val="31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65192" y="2798064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2" y="26974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2" y="29992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CCC"/>
                </a:solidFill>
                <a:latin typeface="Aptos"/>
              </a:rPr>
              <a:t>simulated medical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2514600"/>
            <a:ext cx="1993392" cy="1024128"/>
          </a:xfrm>
          <a:prstGeom prst="roundRect">
            <a:avLst>
              <a:gd name="adj" fmla="val 12000"/>
            </a:avLst>
          </a:prstGeom>
          <a:solidFill>
            <a:srgbClr val="142638"/>
          </a:solidFill>
          <a:ln>
            <a:solidFill>
              <a:srgbClr val="14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51192" y="2770632"/>
            <a:ext cx="438912" cy="438912"/>
          </a:xfrm>
          <a:prstGeom prst="ellipse">
            <a:avLst/>
          </a:prstGeom>
          <a:solidFill>
            <a:srgbClr val="5CE097"/>
          </a:solidFill>
          <a:ln>
            <a:solidFill>
              <a:srgbClr val="5C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1192" y="2798064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9831" y="26974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ESP32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1" y="29992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CCC"/>
                </a:solidFill>
                <a:latin typeface="Aptos"/>
              </a:rPr>
              <a:t>monitoring node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514600"/>
            <a:ext cx="1993392" cy="1024128"/>
          </a:xfrm>
          <a:prstGeom prst="roundRect">
            <a:avLst>
              <a:gd name="adj" fmla="val 12000"/>
            </a:avLst>
          </a:prstGeom>
          <a:solidFill>
            <a:srgbClr val="142638"/>
          </a:solidFill>
          <a:ln>
            <a:solidFill>
              <a:srgbClr val="14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37192" y="2770632"/>
            <a:ext cx="438912" cy="438912"/>
          </a:xfrm>
          <a:prstGeom prst="ellipse">
            <a:avLst/>
          </a:prstGeom>
          <a:solidFill>
            <a:srgbClr val="FFB05C"/>
          </a:solidFill>
          <a:ln>
            <a:solidFill>
              <a:srgbClr val="FF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37192" y="2798064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269748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DETECT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299923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CCC"/>
                </a:solidFill>
                <a:latin typeface="Aptos"/>
              </a:rPr>
              <a:t>rule-based risk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00600" y="3931920"/>
            <a:ext cx="1993392" cy="1024128"/>
          </a:xfrm>
          <a:prstGeom prst="roundRect">
            <a:avLst>
              <a:gd name="adj" fmla="val 12000"/>
            </a:avLst>
          </a:prstGeom>
          <a:solidFill>
            <a:srgbClr val="142638"/>
          </a:solidFill>
          <a:ln>
            <a:solidFill>
              <a:srgbClr val="14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965192" y="4187952"/>
            <a:ext cx="438912" cy="438912"/>
          </a:xfrm>
          <a:prstGeom prst="ellipse">
            <a:avLst/>
          </a:prstGeom>
          <a:solidFill>
            <a:srgbClr val="FF6674"/>
          </a:solidFill>
          <a:ln>
            <a:solidFill>
              <a:srgbClr val="FF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65192" y="4215384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3832" y="411480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RESPOND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13832" y="44165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CCC"/>
                </a:solidFill>
                <a:latin typeface="Aptos"/>
              </a:rPr>
              <a:t>buzzer / LED / relay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3931920"/>
            <a:ext cx="1993392" cy="1024128"/>
          </a:xfrm>
          <a:prstGeom prst="roundRect">
            <a:avLst>
              <a:gd name="adj" fmla="val 12000"/>
            </a:avLst>
          </a:prstGeom>
          <a:solidFill>
            <a:srgbClr val="142638"/>
          </a:solidFill>
          <a:ln>
            <a:solidFill>
              <a:srgbClr val="14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51192" y="4187952"/>
            <a:ext cx="438912" cy="438912"/>
          </a:xfrm>
          <a:prstGeom prst="ellipse">
            <a:avLst/>
          </a:prstGeom>
          <a:solidFill>
            <a:srgbClr val="5C9AFF"/>
          </a:solidFill>
          <a:ln>
            <a:solidFill>
              <a:srgbClr val="5C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51192" y="4215384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4114800"/>
            <a:ext cx="1051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4F8FC"/>
                </a:solidFill>
                <a:latin typeface="Aptos"/>
              </a:rPr>
              <a:t>DASHBOARD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9831" y="44165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9BCCC"/>
                </a:solidFill>
                <a:latin typeface="Aptos"/>
              </a:rPr>
              <a:t>incident + action log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00600" y="5394960"/>
            <a:ext cx="6537960" cy="64008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5586984"/>
            <a:ext cx="6080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5CE097"/>
                </a:solidFill>
                <a:latin typeface="Aptos"/>
              </a:rPr>
              <a:t>USB / Wi-Fi telemetry  →  incident stored  →  operator approves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BCCC"/>
                </a:solidFill>
                <a:latin typeface="Aptos"/>
              </a:rPr>
              <a:t>MEDGUARD  /  ARROWDEV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9BCCC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C"/>
          </a:solidFill>
          <a:ln>
            <a:solidFill>
              <a:srgbClr val="08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D3D6"/>
                </a:solidFill>
                <a:latin typeface="Aptos"/>
              </a:rPr>
              <a:t>03 /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Make cybersecurity response measurable and trainable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CCC"/>
                </a:solidFill>
                <a:latin typeface="Aptos"/>
              </a:rPr>
              <a:t>Not just an alert screen: the prototype turns response into a safe, repeatable training loop.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74519"/>
            <a:ext cx="5074920" cy="425196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1D3D6"/>
                </a:solidFill>
                <a:latin typeface="Aptos"/>
              </a:rPr>
              <a:t>WHAT MAKES MEDGUARD DIFFERENT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651760"/>
            <a:ext cx="438912" cy="438912"/>
          </a:xfrm>
          <a:prstGeom prst="ellipse">
            <a:avLst/>
          </a:prstGeom>
          <a:solidFill>
            <a:srgbClr val="31D3D6"/>
          </a:solidFill>
          <a:ln>
            <a:solidFill>
              <a:srgbClr val="31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679191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4261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Patient-safety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615184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CCC"/>
                </a:solidFill>
                <a:latin typeface="Aptos"/>
              </a:rPr>
              <a:t>Focuses on bedside device behavior, not only IT traffic.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410712"/>
            <a:ext cx="438912" cy="438912"/>
          </a:xfrm>
          <a:prstGeom prst="ellipse">
            <a:avLst/>
          </a:prstGeom>
          <a:solidFill>
            <a:srgbClr val="5CE097"/>
          </a:solidFill>
          <a:ln>
            <a:solidFill>
              <a:srgbClr val="5C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38144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401568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Explainable 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374136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CCC"/>
                </a:solidFill>
                <a:latin typeface="Aptos"/>
              </a:rPr>
              <a:t>Shows what happened and what action is recommended.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4169663"/>
            <a:ext cx="438912" cy="438912"/>
          </a:xfrm>
          <a:prstGeom prst="ellipse">
            <a:avLst/>
          </a:prstGeom>
          <a:solidFill>
            <a:srgbClr val="FFB05C"/>
          </a:solidFill>
          <a:ln>
            <a:solidFill>
              <a:srgbClr val="FF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197096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16052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Physical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133087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CCC"/>
                </a:solidFill>
                <a:latin typeface="Aptos"/>
              </a:rPr>
              <a:t>Links the dashboard to ESP32 + relay simulation.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4928616"/>
            <a:ext cx="438912" cy="438912"/>
          </a:xfrm>
          <a:prstGeom prst="ellipse">
            <a:avLst/>
          </a:prstGeom>
          <a:solidFill>
            <a:srgbClr val="FF6674"/>
          </a:solidFill>
          <a:ln>
            <a:solidFill>
              <a:srgbClr val="FF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956048"/>
            <a:ext cx="4389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8101C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919472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Local resilience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89204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CCC"/>
                </a:solidFill>
                <a:latin typeface="Aptos"/>
              </a:rPr>
              <a:t>Local alerts continue even if network connectivity fails.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1874519"/>
            <a:ext cx="5486400" cy="425196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148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B05C"/>
                </a:solidFill>
                <a:latin typeface="Aptos"/>
              </a:rPr>
              <a:t>TRAINING MODE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6334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9BCCC"/>
                </a:solidFill>
                <a:latin typeface="Aptos"/>
              </a:rPr>
              <a:t>Roles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926080"/>
            <a:ext cx="1298448" cy="475488"/>
          </a:xfrm>
          <a:prstGeom prst="roundRect">
            <a:avLst>
              <a:gd name="adj" fmla="val 12000"/>
            </a:avLst>
          </a:prstGeom>
          <a:solidFill>
            <a:srgbClr val="142638"/>
          </a:solidFill>
          <a:ln>
            <a:solidFill>
              <a:srgbClr val="14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06324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4F8FC"/>
                </a:solidFill>
                <a:latin typeface="Aptos"/>
              </a:rPr>
              <a:t>Nurse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26679" y="2926080"/>
            <a:ext cx="1298448" cy="475488"/>
          </a:xfrm>
          <a:prstGeom prst="roundRect">
            <a:avLst>
              <a:gd name="adj" fmla="val 12000"/>
            </a:avLst>
          </a:prstGeom>
          <a:solidFill>
            <a:srgbClr val="142638"/>
          </a:solidFill>
          <a:ln>
            <a:solidFill>
              <a:srgbClr val="14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6679" y="306324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4F8FC"/>
                </a:solidFill>
                <a:latin typeface="Aptos"/>
              </a:rPr>
              <a:t>Biomed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35440" y="2926080"/>
            <a:ext cx="1298448" cy="475488"/>
          </a:xfrm>
          <a:prstGeom prst="roundRect">
            <a:avLst>
              <a:gd name="adj" fmla="val 12000"/>
            </a:avLst>
          </a:prstGeom>
          <a:solidFill>
            <a:srgbClr val="142638"/>
          </a:solidFill>
          <a:ln>
            <a:solidFill>
              <a:srgbClr val="1426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3063240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4F8FC"/>
                </a:solidFill>
                <a:latin typeface="Aptos"/>
              </a:rPr>
              <a:t>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703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9BCCC"/>
                </a:solidFill>
                <a:latin typeface="Aptos"/>
              </a:rPr>
              <a:t>RANDOM ATTACKS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4005072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Timed challenges  •  speed + accuracy 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5262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5CE097"/>
                </a:solidFill>
                <a:latin typeface="Aptos"/>
              </a:rPr>
              <a:t>BRONZE   →   SILVER   →   GOLD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9BCCC"/>
                </a:solidFill>
                <a:latin typeface="Aptos"/>
              </a:rPr>
              <a:t>Badges: First Save  •  Steady Hand  •  Night Shift Hero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BCCC"/>
                </a:solidFill>
                <a:latin typeface="Aptos"/>
              </a:rPr>
              <a:t>MEDGUARD  /  ARROWDEV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9BCCC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C"/>
          </a:solidFill>
          <a:ln>
            <a:solidFill>
              <a:srgbClr val="08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D3D6"/>
                </a:solidFill>
                <a:latin typeface="Aptos"/>
              </a:rPr>
              <a:t>04 /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From sensor event to a controlled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CCC"/>
                </a:solidFill>
                <a:latin typeface="Aptos"/>
              </a:rPr>
              <a:t>Prototype architecture uses common hardware and a web dashboard; all medical-device behavior is simulated.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874519" cy="150876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057400"/>
            <a:ext cx="1874519" cy="73152"/>
          </a:xfrm>
          <a:prstGeom prst="rect">
            <a:avLst/>
          </a:prstGeom>
          <a:solidFill>
            <a:srgbClr val="31D3D6"/>
          </a:solidFill>
          <a:ln>
            <a:solidFill>
              <a:srgbClr val="31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3591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Aptos"/>
              </a:rPr>
              <a:t>SIMULATED</a:t>
            </a:r>
            <a:br/>
            <a:r>
              <a:rPr sz="1400" b="1">
                <a:solidFill>
                  <a:srgbClr val="F4F8FC"/>
                </a:solidFill>
                <a:latin typeface="Aptos"/>
              </a:rPr>
              <a:t>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7180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9BCCC"/>
                </a:solidFill>
                <a:latin typeface="Aptos"/>
              </a:rPr>
              <a:t>sensor / button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25786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1D3D6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2057400"/>
            <a:ext cx="1874519" cy="150876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2057400"/>
            <a:ext cx="1874519" cy="73152"/>
          </a:xfrm>
          <a:prstGeom prst="rect">
            <a:avLst/>
          </a:prstGeom>
          <a:solidFill>
            <a:srgbClr val="5CE097"/>
          </a:solidFill>
          <a:ln>
            <a:solidFill>
              <a:srgbClr val="5CE0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3591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Aptos"/>
              </a:rPr>
              <a:t>ESP32</a:t>
            </a:r>
            <a:br/>
            <a:r>
              <a:rPr sz="1400" b="1">
                <a:solidFill>
                  <a:srgbClr val="F4F8FC"/>
                </a:solidFill>
                <a:latin typeface="Aptos"/>
              </a:rPr>
              <a:t>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97180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9BCCC"/>
                </a:solidFill>
                <a:latin typeface="Aptos"/>
              </a:rPr>
              <a:t>rule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5786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5CE09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2057400"/>
            <a:ext cx="1874519" cy="150876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2057400"/>
            <a:ext cx="1874519" cy="73152"/>
          </a:xfrm>
          <a:prstGeom prst="rect">
            <a:avLst/>
          </a:prstGeom>
          <a:solidFill>
            <a:srgbClr val="FFB05C"/>
          </a:solidFill>
          <a:ln>
            <a:solidFill>
              <a:srgbClr val="FFB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0" y="23591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Aptos"/>
              </a:rPr>
              <a:t>LOCAL</a:t>
            </a:r>
            <a:br/>
            <a:r>
              <a:rPr sz="1400" b="1">
                <a:solidFill>
                  <a:srgbClr val="F4F8FC"/>
                </a:solidFill>
                <a:latin typeface="Aptos"/>
              </a:rPr>
              <a:t>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297180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9BCCC"/>
                </a:solidFill>
                <a:latin typeface="Aptos"/>
              </a:rPr>
              <a:t>buzzer + LED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25786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B05C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2057400"/>
            <a:ext cx="1874519" cy="150876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52360" y="2057400"/>
            <a:ext cx="1874519" cy="73152"/>
          </a:xfrm>
          <a:prstGeom prst="rect">
            <a:avLst/>
          </a:prstGeom>
          <a:solidFill>
            <a:srgbClr val="FF6674"/>
          </a:solidFill>
          <a:ln>
            <a:solidFill>
              <a:srgbClr val="FF66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0" y="23591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Aptos"/>
              </a:rPr>
              <a:t>ISOLATION</a:t>
            </a:r>
            <a:br/>
            <a:r>
              <a:rPr sz="1400" b="1">
                <a:solidFill>
                  <a:srgbClr val="F4F8FC"/>
                </a:solidFill>
                <a:latin typeface="Aptos"/>
              </a:rPr>
              <a:t>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297180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9BCCC"/>
                </a:solidFill>
                <a:latin typeface="Aptos"/>
              </a:rPr>
              <a:t>relay / servo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4312" y="25786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6674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2057400"/>
            <a:ext cx="1874519" cy="150876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38360" y="2057400"/>
            <a:ext cx="1874519" cy="73152"/>
          </a:xfrm>
          <a:prstGeom prst="rect">
            <a:avLst/>
          </a:prstGeom>
          <a:solidFill>
            <a:srgbClr val="5C9AFF"/>
          </a:solidFill>
          <a:ln>
            <a:solidFill>
              <a:srgbClr val="5C9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0" y="2359152"/>
            <a:ext cx="1600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4F8FC"/>
                </a:solidFill>
                <a:latin typeface="Aptos"/>
              </a:rPr>
              <a:t>BACKEND +</a:t>
            </a:r>
            <a:br/>
            <a:r>
              <a:rPr sz="1400" b="1">
                <a:solidFill>
                  <a:srgbClr val="F4F8FC"/>
                </a:solidFill>
                <a:latin typeface="Aptos"/>
              </a:rPr>
              <a:t>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2971800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9BCCC"/>
                </a:solidFill>
                <a:latin typeface="Aptos"/>
              </a:rPr>
              <a:t>incident log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977639"/>
            <a:ext cx="10972800" cy="178308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224528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1D3D6"/>
                </a:solidFill>
                <a:latin typeface="Aptos"/>
              </a:rPr>
              <a:t>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4187952"/>
            <a:ext cx="9509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4F8FC"/>
                </a:solidFill>
                <a:latin typeface="Aptos"/>
              </a:rPr>
              <a:t>ESP32  •  Arduino IDE / PlatformIO  •  C++  •  HTTP/MQTT  •  Flask/FastAPI/Node.js  •  SQLite/Firebase  •  HTML/React/Streamlit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956048"/>
            <a:ext cx="10287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9BCCC"/>
                </a:solidFill>
                <a:latin typeface="Aptos"/>
              </a:rPr>
              <a:t>Implementation: MVP → normal vs attack scenarios → measure detection / response time → human approval → controlled simulated isolation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5504688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B05C"/>
                </a:solidFill>
                <a:latin typeface="Aptos"/>
              </a:rPr>
              <a:t>Prototype status: low-cost educational model; not a certified medical device.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BCCC"/>
                </a:solidFill>
                <a:latin typeface="Aptos"/>
              </a:rPr>
              <a:t>MEDGUARD  /  ARROWDEV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9BCCC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01C"/>
          </a:solidFill>
          <a:ln>
            <a:solidFill>
              <a:srgbClr val="0810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D3D6"/>
                </a:solidFill>
                <a:latin typeface="Aptos"/>
              </a:rPr>
              <a:t>05 /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4F8FC"/>
                </a:solidFill>
                <a:latin typeface="Aptos"/>
              </a:rPr>
              <a:t>Build safer, faster and more confident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135331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9BCCC"/>
                </a:solidFill>
                <a:latin typeface="Aptos"/>
              </a:rPr>
              <a:t>MedGuard is designed as a scalable training and monitoring concept, with validation required before real clinical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2487168" cy="160020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1D3D6"/>
                </a:solidFill>
                <a:latin typeface="Aptos"/>
              </a:rPr>
              <a:t>FASTER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70048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8FC"/>
                </a:solidFill>
                <a:latin typeface="Aptos"/>
              </a:rPr>
              <a:t>Abnormal behavior is surfaced early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1920240"/>
            <a:ext cx="2487168" cy="160020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22128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E097"/>
                </a:solidFill>
                <a:latin typeface="Aptos"/>
              </a:rPr>
              <a:t>CLEARER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79" y="2670048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8FC"/>
                </a:solidFill>
                <a:latin typeface="Aptos"/>
              </a:rPr>
              <a:t>Explainable alerts reduce raw-log overload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2487168" cy="160020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128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B05C"/>
                </a:solidFill>
                <a:latin typeface="Aptos"/>
              </a:rPr>
              <a:t>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70048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8FC"/>
                </a:solidFill>
                <a:latin typeface="Aptos"/>
              </a:rPr>
              <a:t>Staff practice without risking patients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1920240"/>
            <a:ext cx="2487168" cy="160020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3999" y="2212848"/>
            <a:ext cx="2103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C9AFF"/>
                </a:solidFill>
                <a:latin typeface="Aptos"/>
              </a:rPr>
              <a:t>AFFORDABLE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19" y="2670048"/>
            <a:ext cx="202996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4F8FC"/>
                </a:solidFill>
                <a:latin typeface="Aptos"/>
              </a:rPr>
              <a:t>Common parts lower prototype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886200"/>
            <a:ext cx="10972800" cy="1783080"/>
          </a:xfrm>
          <a:prstGeom prst="roundRect">
            <a:avLst>
              <a:gd name="adj" fmla="val 12000"/>
            </a:avLst>
          </a:prstGeom>
          <a:solidFill>
            <a:srgbClr val="101D2D"/>
          </a:solidFill>
          <a:ln>
            <a:solidFill>
              <a:srgbClr val="10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1D3D6"/>
                </a:solidFill>
                <a:latin typeface="Aptos"/>
              </a:rPr>
              <a:t>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69080"/>
            <a:ext cx="9555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ML anomaly detection on validated data  •  device identity + certificate authentication</a:t>
            </a:r>
          </a:p>
          <a:p>
            <a:pPr>
              <a:spcAft>
                <a:spcPts val="8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SIEM integration + mobile notifications  •  ICU digital twin + multiplayer challenges</a:t>
            </a:r>
          </a:p>
          <a:p>
            <a:pPr>
              <a:spcAft>
                <a:spcPts val="800"/>
              </a:spcAft>
              <a:defRPr sz="1300">
                <a:solidFill>
                  <a:srgbClr val="F4F8FC"/>
                </a:solidFill>
                <a:latin typeface="Aptos"/>
              </a:defRPr>
            </a:pPr>
            <a:r>
              <a:t>Controlled clinical and cybersecurity validation before any real-device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E097"/>
                </a:solidFill>
                <a:latin typeface="Aptos"/>
              </a:rPr>
              <a:t>MEDGUARD = cybersecurity awareness + patient-safety response + gamified training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9BCCC"/>
                </a:solidFill>
                <a:latin typeface="Aptos"/>
              </a:rPr>
              <a:t>MEDGUARD  /  ARROWDEV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A9BCCC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